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</c:v>
                </c:pt>
              </c:strCache>
            </c:strRef>
          </c:tx>
          <c:spPr>
            <a:solidFill>
              <a:srgbClr val="27AE60">
                <a:alpha val="90000"/>
              </a:srgbClr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65A82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XGBoost</c:v>
                  </c:pt>
                  <c:pt idx="1">
                    <c:v>Random Forest</c:v>
                  </c:pt>
                  <c:pt idx="2">
                    <c:v>ARIMA</c:v>
                  </c:pt>
                  <c:pt idx="3">
                    <c:v>LSTM</c:v>
                  </c:pt>
                  <c:pt idx="4">
                    <c:v>Prophet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19604</c:v>
                </c:pt>
                <c:pt idx="1">
                  <c:v>27402</c:v>
                </c:pt>
                <c:pt idx="2">
                  <c:v>31688</c:v>
                </c:pt>
                <c:pt idx="3">
                  <c:v>35401</c:v>
                </c:pt>
                <c:pt idx="4">
                  <c:v>35789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Silueta</c:v>
                </c:pt>
              </c:strCache>
            </c:strRef>
          </c:tx>
          <c:spPr>
            <a:solidFill>
              <a:srgbClr val="64748B">
                <a:alpha val="95000"/>
              </a:srgbClr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A1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7AE6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HDBSCAN</c:v>
                  </c:pt>
                  <c:pt idx="1">
                    <c:v>DBSCAN</c:v>
                  </c:pt>
                  <c:pt idx="2">
                    <c:v>K-Means</c:v>
                  </c:pt>
                  <c:pt idx="3">
                    <c:v>Jerárquico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0.248</c:v>
                </c:pt>
                <c:pt idx="1">
                  <c:v>0.339</c:v>
                </c:pt>
                <c:pt idx="2">
                  <c:v>0.526</c:v>
                </c:pt>
                <c:pt idx="3">
                  <c:v>0.74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1A1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2331720"/>
            <a:ext cx="54864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8288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600" kern="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DEFENSA · TFM MÓDULO MP6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46888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ventas y</a:t>
            </a:r>
            <a:endParaRPr lang="en-US" sz="3800" dirty="0"/>
          </a:p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548640" y="3703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E-Commerce Data · Reino Unido 2010–2011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H1  ·  Máster en IA y Big Data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y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Tienda online de regalos y decoración (Reino Unido)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1920240" cy="1463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1920240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541.909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transacciones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originales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06040" y="1371600"/>
            <a:ext cx="1920240" cy="1463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0" name="Shape 8"/>
          <p:cNvSpPr/>
          <p:nvPr/>
        </p:nvSpPr>
        <p:spPr>
          <a:xfrm>
            <a:off x="2606040" y="1371600"/>
            <a:ext cx="1920240" cy="73152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260604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4.339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269748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únicos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54880" y="1371600"/>
            <a:ext cx="1920240" cy="1463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4" name="Shape 12"/>
          <p:cNvSpPr/>
          <p:nvPr/>
        </p:nvSpPr>
        <p:spPr>
          <a:xfrm>
            <a:off x="4754880" y="1371600"/>
            <a:ext cx="1920240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484632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países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03720" y="1371600"/>
            <a:ext cx="1920240" cy="14630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8" name="Shape 16"/>
          <p:cNvSpPr/>
          <p:nvPr/>
        </p:nvSpPr>
        <p:spPr>
          <a:xfrm>
            <a:off x="6903720" y="1371600"/>
            <a:ext cx="192024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9" name="Text 17"/>
          <p:cNvSpPr/>
          <p:nvPr/>
        </p:nvSpPr>
        <p:spPr>
          <a:xfrm>
            <a:off x="6903720" y="1554480"/>
            <a:ext cx="1920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año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6995160" y="21945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histórico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(dic 2010–2011)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2004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crudos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común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→  </a:t>
            </a:r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+  </a:t>
            </a:r>
            <a:pPr algn="ctr" indent="0" marL="0">
              <a:buNone/>
            </a:pPr>
            <a:r>
              <a:rPr lang="en-US" sz="14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416052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mismo dataset, dos enfoques complementarios.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2 / 15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preguntas de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proyecto responde a dos necesidades distintas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6400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¿CUÁNTO venderemos?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77240" y="26974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 las ventas diarias para planificar inventario y campañas comerciales.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3931920" cy="64008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¿A QUIÉN vendemos?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66344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spc="3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892040" y="2697480"/>
            <a:ext cx="3474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Segmentar la base de clientes para personalizar las acciones de marketing.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3 / 15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de los datos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conservadora y trazable, común a las dos fases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Limpieza básica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88720" y="16824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Duplicados, cancelaciones, filas sin cliente, precios no válidos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303520" y="138988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 derivadas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303520" y="168249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Fechas, día de semana, importe, categorías de producto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Festivos por país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88720" y="2734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Calendario por país del cliente con caché ISO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63440" y="24231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24231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303520" y="24414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Outliers con flags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303520" y="273405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1,5·IQR; se marcan, no se eliminan (reversible)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188720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 de negocio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188720" y="3785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conservan los picos que coinciden con festivos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63440" y="347472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26" name="Text 24"/>
          <p:cNvSpPr/>
          <p:nvPr/>
        </p:nvSpPr>
        <p:spPr>
          <a:xfrm>
            <a:off x="466344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5303520" y="349300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Exportación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303520" y="378561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361.126 filas marcadas para entrenamiento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4 / 15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54864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de ventas diarias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9 nov → 9 dic 2011  ·  métrica principal: RMSE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modelos comparados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sobre el conjunto de test (GBP) — menor es mejor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39496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34440"/>
            <a:ext cx="260604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4"/>
          <p:cNvSpPr/>
          <p:nvPr/>
        </p:nvSpPr>
        <p:spPr>
          <a:xfrm>
            <a:off x="6126480" y="1234440"/>
            <a:ext cx="2606040" cy="4114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6126480" y="123444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GANADOR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263640" y="178308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263640" y="233172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19.604 GBP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6263640" y="2743200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 en test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263640" y="31546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= 0,56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263640" y="35661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+38,8 % vs. baseline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6 / 15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elegido: XGBoost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Predicción frente a ventas reales en el periodo de test</a:t>
            </a:r>
            <a:endParaRPr lang="en-US" sz="1200" dirty="0"/>
          </a:p>
        </p:txBody>
      </p:sp>
      <p:pic>
        <p:nvPicPr>
          <p:cNvPr id="5" name="Image 0" descr="/home/claude/presentacion/xgb_1_prediccio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76072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0" y="1371600"/>
            <a:ext cx="237744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537960" y="15087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XGBoost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537960" y="1965960"/>
            <a:ext cx="914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6"/>
          <p:cNvSpPr/>
          <p:nvPr/>
        </p:nvSpPr>
        <p:spPr>
          <a:xfrm>
            <a:off x="6720840" y="192024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 RMSE y R² del conjunto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537960" y="2560320"/>
            <a:ext cx="914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8"/>
          <p:cNvSpPr/>
          <p:nvPr/>
        </p:nvSpPr>
        <p:spPr>
          <a:xfrm>
            <a:off x="6720840" y="251460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 interacciones no lineales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6537960" y="3154680"/>
            <a:ext cx="914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3" name="Text 10"/>
          <p:cNvSpPr/>
          <p:nvPr/>
        </p:nvSpPr>
        <p:spPr>
          <a:xfrm>
            <a:off x="6720840" y="31089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bien los picos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537960" y="3749040"/>
            <a:ext cx="91440" cy="9144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5" name="Text 12"/>
          <p:cNvSpPr/>
          <p:nvPr/>
        </p:nvSpPr>
        <p:spPr>
          <a:xfrm>
            <a:off x="6720840" y="370332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features manuales (lags, calendario)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7 / 15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188720"/>
            <a:ext cx="2743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2000" dirty="0"/>
          </a:p>
        </p:txBody>
      </p:sp>
      <p:sp>
        <p:nvSpPr>
          <p:cNvPr id="3" name="Shape 1"/>
          <p:cNvSpPr/>
          <p:nvPr/>
        </p:nvSpPr>
        <p:spPr>
          <a:xfrm>
            <a:off x="548640" y="3017520"/>
            <a:ext cx="54864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154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spc="6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35204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Segmentación de clientes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48640" y="4297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4.339 clientes  ·  variables RFM  ·  aprendizaje no supervisado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Cuatro modelos comparados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silueta (0–1) — mayor es mejor</a:t>
            </a:r>
            <a:endParaRPr lang="en-US" sz="12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2344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6126480" y="1234440"/>
            <a:ext cx="2606040" cy="329184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Text 4"/>
          <p:cNvSpPr/>
          <p:nvPr/>
        </p:nvSpPr>
        <p:spPr>
          <a:xfrm>
            <a:off x="6309360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6309360" y="1737360"/>
            <a:ext cx="2240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K-Means y Jerárquico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coinciden en k=2 → estructura real.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DBSCAN y HDBSCAN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descartados: demasiado ruido (26–49 %).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9 / 15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elegido: K-Means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 de forma cruzada por el clustering jerárquico</a:t>
            </a:r>
            <a:endParaRPr lang="en-US" sz="1200" dirty="0"/>
          </a:p>
        </p:txBody>
      </p:sp>
      <p:pic>
        <p:nvPicPr>
          <p:cNvPr id="5" name="Image 0" descr="/home/claude/presentacion/kmeans_pca.jpe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280160"/>
            <a:ext cx="5486400" cy="3200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217920" y="1371600"/>
            <a:ext cx="256032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7" name="Shape 4"/>
          <p:cNvSpPr/>
          <p:nvPr/>
        </p:nvSpPr>
        <p:spPr>
          <a:xfrm>
            <a:off x="6217920" y="1371600"/>
            <a:ext cx="2560320" cy="7315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8" name="Text 5"/>
          <p:cNvSpPr/>
          <p:nvPr/>
        </p:nvSpPr>
        <p:spPr>
          <a:xfrm>
            <a:off x="6355080" y="155448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0,5257</a:t>
            </a:r>
            <a:endParaRPr lang="en-US" sz="2600" dirty="0"/>
          </a:p>
        </p:txBody>
      </p:sp>
      <p:sp>
        <p:nvSpPr>
          <p:cNvPr id="9" name="Text 6"/>
          <p:cNvSpPr/>
          <p:nvPr/>
        </p:nvSpPr>
        <p:spPr>
          <a:xfrm>
            <a:off x="6355080" y="201168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 (k=2)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6355080" y="23774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97 %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355080" y="2788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dataset conservado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355080" y="3200400"/>
            <a:ext cx="2286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rápido y reproducible. Validado por el jerárquico (silueta 0,74).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10 / 15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perfiles de cliente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segmentación se traduce en dos comportamientos claros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3931920" cy="54864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· Mayorista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~88 %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5486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68680" y="3017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entre semana · tickets grandes · menor frecuencia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3931920" cy="2926080"/>
          </a:xfrm>
          <a:prstGeom prst="rect">
            <a:avLst/>
          </a:prstGeom>
          <a:solidFill>
            <a:srgbClr val="FFFFFF"/>
          </a:solidFill>
          <a:ln w="19050">
            <a:solidFill>
              <a:srgbClr val="F39C1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3" name="Text 11"/>
          <p:cNvSpPr/>
          <p:nvPr/>
        </p:nvSpPr>
        <p:spPr>
          <a:xfrm>
            <a:off x="4663440" y="13716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B2C · Consumidor final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663440" y="20574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~12 %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clientes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83480" y="301752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 en fin de semana · tickets pequeños · mayor frecuencia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11 / 15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Recomendaciones de negocio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hacer con cada segmento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371600"/>
            <a:ext cx="91440" cy="30175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B2B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020824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9" name="Text 7"/>
          <p:cNvSpPr/>
          <p:nvPr/>
        </p:nvSpPr>
        <p:spPr>
          <a:xfrm>
            <a:off x="10515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Programa de fidelización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2587752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1051560" y="2532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Descuentos por volumen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3154680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3" name="Text 11"/>
          <p:cNvSpPr/>
          <p:nvPr/>
        </p:nvSpPr>
        <p:spPr>
          <a:xfrm>
            <a:off x="1051560" y="30998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cuentas clave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68680" y="3721608"/>
            <a:ext cx="73152" cy="73152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5" name="Text 13"/>
          <p:cNvSpPr/>
          <p:nvPr/>
        </p:nvSpPr>
        <p:spPr>
          <a:xfrm>
            <a:off x="1051560" y="36667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de recompra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663440" y="1371600"/>
            <a:ext cx="3931920" cy="3017520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1371600"/>
            <a:ext cx="91440" cy="30175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15087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Segmento B2C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983480" y="2020824"/>
            <a:ext cx="73152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0" name="Text 18"/>
          <p:cNvSpPr/>
          <p:nvPr/>
        </p:nvSpPr>
        <p:spPr>
          <a:xfrm>
            <a:off x="5166360" y="196596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Campañas en fin de semana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983480" y="2587752"/>
            <a:ext cx="73152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2" name="Text 20"/>
          <p:cNvSpPr/>
          <p:nvPr/>
        </p:nvSpPr>
        <p:spPr>
          <a:xfrm>
            <a:off x="5166360" y="2532888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Promociones de consumo final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983480" y="3154680"/>
            <a:ext cx="73152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4" name="Text 22"/>
          <p:cNvSpPr/>
          <p:nvPr/>
        </p:nvSpPr>
        <p:spPr>
          <a:xfrm>
            <a:off x="5166360" y="3099816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emocional/visual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983480" y="3721608"/>
            <a:ext cx="73152" cy="73152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26" name="Text 24"/>
          <p:cNvSpPr/>
          <p:nvPr/>
        </p:nvSpPr>
        <p:spPr>
          <a:xfrm>
            <a:off x="5166360" y="3666744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Captación y recurrencia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12 / 15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Aprendizajes del proyecto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nos llevamos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37160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371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80160" y="138988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preprocesado manda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280160" y="171907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de los datos pesa más que el algoritmo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14884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80160" y="21671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Comparar es necesario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280160" y="24963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 defiende un ganador sin alternativas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80160" y="294436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Una métrica no basta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80160" y="32735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Silueta, ruido, tamaños e interpretabilidad juntos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64008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280160" y="372160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≠ mejor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falla con pocos datos; gana el feature engineering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13 / 15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 global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enfoques, una visión completa del negocio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371600"/>
            <a:ext cx="39319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371600"/>
            <a:ext cx="109728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Regresión → XGBoost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 CUÁNTO se va a vender → planificación de stock y campañas.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371600"/>
            <a:ext cx="393192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63440" y="1371600"/>
            <a:ext cx="109728" cy="182880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55448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→ K-Means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2011680"/>
            <a:ext cx="3474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A QUIÉN se vende → marketing diferenciado por segmento.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2044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dato a la decisión: cuánto venderemos y a qué tipo de cliente.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57200" y="48920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Grupo H1  ·  TFM MP6  ·  14 / 15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65A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1828800"/>
            <a:ext cx="548640" cy="45720"/>
          </a:xfrm>
          <a:prstGeom prst="rect">
            <a:avLst/>
          </a:prstGeom>
          <a:solidFill>
            <a:srgbClr val="F39C12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9659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54864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¿Preguntas?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4434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H1  ·  Máster en IA y Big Data  ·  Módulo MP6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Defensa TFM MP6 — Grupo H1</dc:title>
  <dc:subject>PptxGenJS Presentation</dc:subject>
  <dc:creator>Grupo H1</dc:creator>
  <cp:lastModifiedBy>Grupo H1</cp:lastModifiedBy>
  <cp:revision>1</cp:revision>
  <dcterms:created xsi:type="dcterms:W3CDTF">2026-05-22T08:14:52Z</dcterms:created>
  <dcterms:modified xsi:type="dcterms:W3CDTF">2026-05-22T08:14:52Z</dcterms:modified>
</cp:coreProperties>
</file>